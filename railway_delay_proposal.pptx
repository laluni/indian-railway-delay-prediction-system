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Predictive Intelligence System for Indian Railway Delay Cascade Analytics</a:t>
            </a:r>
          </a:p>
          <a:p>
            <a:pPr>
              <a:spcBef>
                <a:spcPts val="2000"/>
              </a:spcBef>
              <a:defRPr sz="1800">
                <a:solidFill>
                  <a:srgbClr val="B4C8DC"/>
                </a:solidFill>
                <a:latin typeface="Arial"/>
              </a:defRPr>
            </a:pPr>
            <a:r>
              <a:t>Moving from reactive train tracking to network-wide predictive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The Problem: Cascade Delays &amp; Congestion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000">
                <a:solidFill>
                  <a:srgbClr val="E65C00"/>
                </a:solidFill>
                <a:latin typeface="Arial"/>
              </a:defRPr>
            </a:pPr>
            <a:r>
              <a:t>• The Ripple Effect:</a:t>
            </a:r>
          </a:p>
          <a:p>
            <a:pPr>
              <a:spcAft>
                <a:spcPts val="15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  A single train delay triggers a domino effect across shared tracks, platforms, and junctions.</a:t>
            </a:r>
          </a:p>
          <a:p>
            <a:pPr>
              <a:defRPr b="1" sz="2000">
                <a:solidFill>
                  <a:srgbClr val="E65C00"/>
                </a:solidFill>
                <a:latin typeface="Arial"/>
              </a:defRPr>
            </a:pPr>
            <a:r>
              <a:t>• Infrastructure Constraints:</a:t>
            </a:r>
          </a:p>
          <a:p>
            <a:pPr>
              <a:spcAft>
                <a:spcPts val="15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  Trains wait outside busy hubs because delayed arrivals block platforms and track segments.</a:t>
            </a:r>
          </a:p>
          <a:p>
            <a:pPr>
              <a:defRPr b="1" sz="2000">
                <a:solidFill>
                  <a:srgbClr val="E65C00"/>
                </a:solidFill>
                <a:latin typeface="Arial"/>
              </a:defRPr>
            </a:pPr>
            <a:r>
              <a:t>• Lack of Visibility:</a:t>
            </a:r>
          </a:p>
          <a:p>
            <a:pPr>
              <a:defRPr sz="1600">
                <a:solidFill>
                  <a:srgbClr val="3C3C3C"/>
                </a:solidFill>
                <a:latin typeface="Arial"/>
              </a:defRPr>
            </a:pPr>
            <a:r>
              <a:t>  Passengers and logistics operators have no tool to forecast when local delays will affect distant routes.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The Existing Scenario &amp;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Consumer Transit Apps (Ixigo, ConfirmTkt, Where Is My Train):</a:t>
            </a:r>
          </a:p>
          <a:p>
            <a:pPr>
              <a:spcAft>
                <a:spcPts val="15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- Treat trains as isolated objects in a vacuum.</a:t>
            </a:r>
            <a:br/>
            <a:r>
              <a:t>  - Extrapolate delays linearly without considering track sharing or network blockages.</a:t>
            </a:r>
          </a:p>
          <a:p>
            <a:pPr>
              <a:spcAft>
                <a:spcPts val="5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The Operational Blind Spot:</a:t>
            </a:r>
          </a:p>
          <a:p>
            <a:pPr>
              <a:defRPr sz="1500">
                <a:solidFill>
                  <a:srgbClr val="3C3C3C"/>
                </a:solidFill>
                <a:latin typeface="Arial"/>
              </a:defRPr>
            </a:pPr>
            <a:r>
              <a:t>  - A train is marked as 'On Time' even if a delayed train is blocking its path 50km ahead.</a:t>
            </a:r>
            <a:br/>
            <a:r>
              <a:t>  - Users are left unprepared until the train physically grinds to a halt.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How Our System Differs from COA / 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b="1" sz="1800">
                <a:solidFill>
                  <a:srgbClr val="E65C00"/>
                </a:solidFill>
                <a:latin typeface="Arial"/>
              </a:defRPr>
            </a:pPr>
            <a:r>
              <a:t>• COA (Control Office Application) is RE-ACTIVE &amp; CLOSED:</a:t>
            </a:r>
          </a:p>
          <a:p>
            <a:pPr>
              <a:spcAft>
                <a:spcPts val="20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- Used internally by dispatchers for tactical control and logs.</a:t>
            </a:r>
            <a:br/>
            <a:r>
              <a:t>  - Does not expose predictive analytics or future network cascade warnings to external users or logistics partners.</a:t>
            </a:r>
          </a:p>
          <a:p>
            <a:pPr>
              <a:spcAft>
                <a:spcPts val="5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Our System is PRO-ACTIVE &amp; OPEN:</a:t>
            </a:r>
          </a:p>
          <a:p>
            <a:pPr>
              <a:defRPr sz="1500">
                <a:solidFill>
                  <a:srgbClr val="3C3C3C"/>
                </a:solidFill>
                <a:latin typeface="Arial"/>
              </a:defRPr>
            </a:pPr>
            <a:r>
              <a:t>  - Uses machine learning to project future delays hours in advance.</a:t>
            </a:r>
            <a:br/>
            <a:r>
              <a:t>  - Specifically designed as an open decision-support dashboard for freight planners and passengers.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The Solution: Predictive Intelligence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Clean &amp; Store at Scale:</a:t>
            </a:r>
          </a:p>
          <a:p>
            <a:pPr>
              <a:spcAft>
                <a:spcPts val="15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Process millions of rows of train schedules and running history locally using Polars and DuckDB.</a:t>
            </a:r>
          </a:p>
          <a:p>
            <a:pPr>
              <a:spcAft>
                <a:spcPts val="5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Map the Dependencies:</a:t>
            </a:r>
          </a:p>
          <a:p>
            <a:pPr>
              <a:spcAft>
                <a:spcPts val="15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A custom propagation engine tracks delay transfers to subsequent trains sharing the same track segments.</a:t>
            </a:r>
          </a:p>
          <a:p>
            <a:pPr>
              <a:spcAft>
                <a:spcPts val="5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Predict and Show:</a:t>
            </a:r>
          </a:p>
          <a:p>
            <a:pPr>
              <a:defRPr sz="1500">
                <a:solidFill>
                  <a:srgbClr val="3C3C3C"/>
                </a:solidFill>
                <a:latin typeface="Arial"/>
              </a:defRPr>
            </a:pPr>
            <a:r>
              <a:t>  Forecast final delays using machine learning and display risks on a Streamlit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1. Data Layer: Polars + DuckDB</a:t>
            </a:r>
          </a:p>
          <a:p>
            <a:pPr>
              <a:spcAft>
                <a:spcPts val="12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Fast local database querying without expensive cloud hosting fees.</a:t>
            </a:r>
          </a:p>
          <a:p>
            <a:pPr>
              <a:spcAft>
                <a:spcPts val="3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2. Computation Layer: Cascade Engine</a:t>
            </a:r>
          </a:p>
          <a:p>
            <a:pPr>
              <a:spcAft>
                <a:spcPts val="12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Models track-sharing schedules to output dynamic delay transfer penalty scores.</a:t>
            </a:r>
          </a:p>
          <a:p>
            <a:pPr>
              <a:spcAft>
                <a:spcPts val="3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3. AI &amp; Frontend Layer: LightGBM + Streamlit</a:t>
            </a:r>
          </a:p>
          <a:p>
            <a:pPr>
              <a:defRPr sz="1500">
                <a:solidFill>
                  <a:srgbClr val="3C3C3C"/>
                </a:solidFill>
                <a:latin typeface="Arial"/>
              </a:defRPr>
            </a:pPr>
            <a:r>
              <a:t>  Predicts precise arrival timelines and presents them on an interactive heatmap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Where is AI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E65C00"/>
                </a:solidFill>
                <a:latin typeface="Arial"/>
              </a:defRPr>
            </a:pPr>
            <a:r>
              <a:t>• Core AI Engine: LightGBM (Gradient Boosting)</a:t>
            </a:r>
          </a:p>
          <a:p>
            <a:pPr>
              <a:spcAft>
                <a:spcPts val="500"/>
              </a:spcAft>
              <a:defRPr b="1" sz="1600">
                <a:solidFill>
                  <a:srgbClr val="0B1D3A"/>
                </a:solidFill>
                <a:latin typeface="Arial"/>
              </a:defRPr>
            </a:pPr>
            <a:r>
              <a:t>• Why we need AI instead of hard-coded rules:</a:t>
            </a:r>
          </a:p>
          <a:p>
            <a:pPr>
              <a:defRPr sz="1500">
                <a:solidFill>
                  <a:srgbClr val="3C3C3C"/>
                </a:solidFill>
                <a:latin typeface="Arial"/>
              </a:defRPr>
            </a:pPr>
            <a:r>
              <a:t>  - Delay propagation is highly non-linear: a 10-minute delay during off-peak times resolves itself, but during rush hour it snowballs into a major gridlock.</a:t>
            </a:r>
            <a:br/>
            <a:r>
              <a:t>  - The AI model captures complex multi-feature interactions, combining cascade penalties with traffic density indexes, seasonal conditions, and historical train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System 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1. Ingestion: Clean &amp; load 1.5M rows of ir_train.csv via Polars into DuckDB.</a:t>
            </a:r>
          </a:p>
          <a:p>
            <a:pPr>
              <a:spcAft>
                <a:spcPts val="12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2. Analysis: Query schedules to compute historical platform occupancy at junctions.</a:t>
            </a:r>
          </a:p>
          <a:p>
            <a:pPr>
              <a:spcAft>
                <a:spcPts val="12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3. Propagation: Identify all trains sharing the path of a delayed train within a 3-hour window.</a:t>
            </a:r>
          </a:p>
          <a:p>
            <a:pPr>
              <a:spcAft>
                <a:spcPts val="12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4. Machine Learning: Feed details (weather, time, cascade score) to LightGBM.</a:t>
            </a:r>
          </a:p>
          <a:p>
            <a:pPr>
              <a:spcAft>
                <a:spcPts val="12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5. Output: User inputs a train query and receives predictive arrival timelines on Streamlit.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1D3A"/>
                </a:solidFill>
                <a:latin typeface="Georgia"/>
              </a:defRPr>
            </a:pPr>
            <a:r>
              <a:t>Business Impact &amp;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Cargo &amp; Logistics:</a:t>
            </a:r>
          </a:p>
          <a:p>
            <a:pPr>
              <a:spcAft>
                <a:spcPts val="15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Minimizes labor idle times and warehouse fees by forecasting goods arrival windows.</a:t>
            </a:r>
          </a:p>
          <a:p>
            <a:pPr>
              <a:spcAft>
                <a:spcPts val="3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Commuters &amp; Passengers:</a:t>
            </a:r>
          </a:p>
          <a:p>
            <a:pPr>
              <a:spcAft>
                <a:spcPts val="15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  Aids passengers in booking connecting transits with confidence, reducing missed connections.</a:t>
            </a:r>
          </a:p>
          <a:p>
            <a:pPr>
              <a:spcAft>
                <a:spcPts val="300"/>
              </a:spcAft>
              <a:defRPr b="1" sz="1800">
                <a:solidFill>
                  <a:srgbClr val="0B1D3A"/>
                </a:solidFill>
                <a:latin typeface="Arial"/>
              </a:defRPr>
            </a:pPr>
            <a:r>
              <a:t>• Infrastructure Planners:</a:t>
            </a:r>
          </a:p>
          <a:p>
            <a:pPr>
              <a:defRPr sz="1500">
                <a:solidFill>
                  <a:srgbClr val="3C3C3C"/>
                </a:solidFill>
                <a:latin typeface="Arial"/>
              </a:defRPr>
            </a:pPr>
            <a:r>
              <a:t>  Identifies systemic bottlenecks to optimize physical railway expansion budgets.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