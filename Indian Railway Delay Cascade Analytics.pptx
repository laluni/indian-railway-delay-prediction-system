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4213D"/>
                </a:solidFill>
                <a:latin typeface="Arial"/>
              </a:rPr>
              <a:t>Mean Absolute Error (minutes)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(mins, lower is better)</c:v>
                </c:pt>
              </c:strCache>
            </c:strRef>
          </c:tx>
          <c:spPr>
            <a:solidFill>
              <a:srgbClr val="457B9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A1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Ridge</c:v>
                  </c:pt>
                  <c:pt idx="1">
                    <c:v>Random Forest</c:v>
                  </c:pt>
                  <c:pt idx="2">
                    <c:v>XGBoost</c:v>
                  </c:pt>
                  <c:pt idx="3">
                    <c:v>LightGBM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36.76</c:v>
                </c:pt>
                <c:pt idx="1">
                  <c:v>33.95</c:v>
                </c:pt>
                <c:pt idx="2">
                  <c:v>33.8</c:v>
                </c:pt>
                <c:pt idx="3">
                  <c:v>33.65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32"/>
        </c:scaling>
        <c:delete val="0"/>
        <c:axPos val="l"/>
        <c:majorGridlines>
          <c:spPr>
            <a:ln w="1270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4213D"/>
                </a:solidFill>
                <a:latin typeface="Arial"/>
              </a:rPr>
              <a:t>AUC-ROC (delay &gt; 15 min)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 (higher is better)</c:v>
                </c:pt>
              </c:strCache>
            </c:strRef>
          </c:tx>
          <c:spPr>
            <a:solidFill>
              <a:srgbClr val="457B9D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A1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Ridge</c:v>
                  </c:pt>
                  <c:pt idx="1">
                    <c:v>Random Forest</c:v>
                  </c:pt>
                  <c:pt idx="2">
                    <c:v>XGBoost</c:v>
                  </c:pt>
                  <c:pt idx="3">
                    <c:v>LightGBM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0.914</c:v>
                </c:pt>
                <c:pt idx="1">
                  <c:v>0.9068</c:v>
                </c:pt>
                <c:pt idx="2">
                  <c:v>0.9148</c:v>
                </c:pt>
                <c:pt idx="3">
                  <c:v>0.9153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2"/>
          <c:min val="0.9"/>
        </c:scaling>
        <c:delete val="0"/>
        <c:axPos val="l"/>
        <c:majorGridlines>
          <c:spPr>
            <a:ln w="1270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4213D"/>
                </a:solidFill>
                <a:latin typeface="Arial"/>
              </a:rPr>
              <a:t>Prediction Error (MAE, mins)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(minutes)</c:v>
                </c:pt>
              </c:strCache>
            </c:strRef>
          </c:tx>
          <c:spPr>
            <a:solidFill>
              <a:srgbClr val="5B6B8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10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Baseline
(32 raw features)</c:v>
                  </c:pt>
                  <c:pt idx="1">
                    <c:v>Full Model
(+ cascade &amp; graph)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34.18</c:v>
                </c:pt>
                <c:pt idx="1">
                  <c:v>33.65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33"/>
        </c:scaling>
        <c:delete val="0"/>
        <c:axPos val="l"/>
        <c:majorGridlines>
          <c:spPr>
            <a:ln w="1270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4213D"/>
                </a:solidFill>
                <a:latin typeface="Arial"/>
              </a:rPr>
              <a:t>Classification Power (AUC-ROC)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5B6B82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10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Baseline
(32 raw features)</c:v>
                  </c:pt>
                  <c:pt idx="1">
                    <c:v>Full Model
(+ cascade &amp; graph)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0.9094</c:v>
                </c:pt>
                <c:pt idx="1">
                  <c:v>0.9153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17"/>
          <c:min val="0.905"/>
        </c:scaling>
        <c:delete val="0"/>
        <c:axPos val="l"/>
        <c:majorGridlines>
          <c:spPr>
            <a:ln w="1270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1024128" cy="1188720"/>
          </a:xfrm>
          <a:prstGeom prst="line">
            <a:avLst/>
          </a:prstGeom>
          <a:noFill/>
          <a:ln w="19050">
            <a:solidFill>
              <a:srgbClr val="A8C6DE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1737360"/>
            <a:ext cx="1024128" cy="1188720"/>
          </a:xfrm>
          <a:prstGeom prst="line">
            <a:avLst/>
          </a:prstGeom>
          <a:noFill/>
          <a:ln w="19050">
            <a:solidFill>
              <a:srgbClr val="A8C6DE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02368" y="548640"/>
            <a:ext cx="1024128" cy="713232"/>
          </a:xfrm>
          <a:prstGeom prst="line">
            <a:avLst/>
          </a:prstGeom>
          <a:noFill/>
          <a:ln w="19050">
            <a:solidFill>
              <a:srgbClr val="A8C6DE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2368" y="1261872"/>
            <a:ext cx="1024128" cy="1664208"/>
          </a:xfrm>
          <a:prstGeom prst="line">
            <a:avLst/>
          </a:prstGeom>
          <a:noFill/>
          <a:ln w="19050">
            <a:solidFill>
              <a:srgbClr val="A8C6DE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6496" y="1261872"/>
            <a:ext cx="877824" cy="950976"/>
          </a:xfrm>
          <a:prstGeom prst="line">
            <a:avLst/>
          </a:prstGeom>
          <a:noFill/>
          <a:ln w="19050">
            <a:solidFill>
              <a:srgbClr val="A8C6DE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37092" y="1696212"/>
            <a:ext cx="82296" cy="82296"/>
          </a:xfrm>
          <a:prstGeom prst="ellipse">
            <a:avLst/>
          </a:prstGeom>
          <a:solidFill>
            <a:srgbClr val="A8C6DE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774936" y="521208"/>
            <a:ext cx="54864" cy="54864"/>
          </a:xfrm>
          <a:prstGeom prst="ellipse">
            <a:avLst/>
          </a:prstGeom>
          <a:solidFill>
            <a:srgbClr val="A8C6DE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774936" y="2898648"/>
            <a:ext cx="54864" cy="54864"/>
          </a:xfrm>
          <a:prstGeom prst="ellipse">
            <a:avLst/>
          </a:prstGeom>
          <a:solidFill>
            <a:srgbClr val="A8C6DE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99064" y="1234440"/>
            <a:ext cx="54864" cy="54864"/>
          </a:xfrm>
          <a:prstGeom prst="ellipse">
            <a:avLst/>
          </a:prstGeom>
          <a:solidFill>
            <a:srgbClr val="A8C6DE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676888" y="2185416"/>
            <a:ext cx="54864" cy="54864"/>
          </a:xfrm>
          <a:prstGeom prst="ellipse">
            <a:avLst/>
          </a:prstGeom>
          <a:solidFill>
            <a:srgbClr val="A8C6DE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4206240"/>
            <a:ext cx="832104" cy="1005840"/>
          </a:xfrm>
          <a:prstGeom prst="line">
            <a:avLst/>
          </a:prstGeom>
          <a:noFill/>
          <a:ln w="19050">
            <a:solidFill>
              <a:srgbClr val="A8C6DE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212080"/>
            <a:ext cx="832104" cy="1005840"/>
          </a:xfrm>
          <a:prstGeom prst="line">
            <a:avLst/>
          </a:prstGeom>
          <a:noFill/>
          <a:ln w="19050">
            <a:solidFill>
              <a:srgbClr val="A8C6DE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6424" y="4206240"/>
            <a:ext cx="832104" cy="603504"/>
          </a:xfrm>
          <a:prstGeom prst="line">
            <a:avLst/>
          </a:prstGeom>
          <a:noFill/>
          <a:ln w="19050">
            <a:solidFill>
              <a:srgbClr val="A8C6DE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6424" y="4809744"/>
            <a:ext cx="832104" cy="1408176"/>
          </a:xfrm>
          <a:prstGeom prst="line">
            <a:avLst/>
          </a:prstGeom>
          <a:noFill/>
          <a:ln w="19050">
            <a:solidFill>
              <a:srgbClr val="A8C6DE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38528" y="4809744"/>
            <a:ext cx="713232" cy="804672"/>
          </a:xfrm>
          <a:prstGeom prst="line">
            <a:avLst/>
          </a:prstGeom>
          <a:noFill/>
          <a:ln w="19050">
            <a:solidFill>
              <a:srgbClr val="A8C6DE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3172" y="5170932"/>
            <a:ext cx="82296" cy="82296"/>
          </a:xfrm>
          <a:prstGeom prst="ellipse">
            <a:avLst/>
          </a:prstGeom>
          <a:solidFill>
            <a:srgbClr val="A8C6DE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78992" y="4178808"/>
            <a:ext cx="54864" cy="54864"/>
          </a:xfrm>
          <a:prstGeom prst="ellipse">
            <a:avLst/>
          </a:prstGeom>
          <a:solidFill>
            <a:srgbClr val="A8C6DE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78992" y="6190488"/>
            <a:ext cx="54864" cy="54864"/>
          </a:xfrm>
          <a:prstGeom prst="ellipse">
            <a:avLst/>
          </a:prstGeom>
          <a:solidFill>
            <a:srgbClr val="A8C6DE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911096" y="4782312"/>
            <a:ext cx="54864" cy="54864"/>
          </a:xfrm>
          <a:prstGeom prst="ellipse">
            <a:avLst/>
          </a:prstGeom>
          <a:solidFill>
            <a:srgbClr val="A8C6DE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624328" y="5586984"/>
            <a:ext cx="54864" cy="54864"/>
          </a:xfrm>
          <a:prstGeom prst="ellipse">
            <a:avLst/>
          </a:prstGeom>
          <a:solidFill>
            <a:srgbClr val="A8C6DE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2788920"/>
            <a:ext cx="12188952" cy="27432"/>
          </a:xfrm>
          <a:prstGeom prst="rect">
            <a:avLst/>
          </a:prstGeom>
          <a:solidFill>
            <a:srgbClr val="F4A10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2057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SYSTEM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24231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Indian Railway Delay Cascade Analytics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822960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reactive GPS tracking to network-wide, spatio-temporal delay forecasting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Briefing</a:t>
            </a:r>
            <a:pPr indent="0" marL="0">
              <a:buNone/>
            </a:pPr>
            <a:r>
              <a:rPr lang="en-US" sz="13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Polars + DuckDB + NetworkX + LightGBM + Streamlit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Cascade Delays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share infrastructure — one delay ripples across the whole network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57276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Domino Effect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92808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segments, signaling blocks, junctions and platforms are shared. One delayed train occupies slots that others need.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457200" cy="45720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305409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Rake Turnaround Dilemma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374136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trainsets (rakes) are reused across services — a late inbound run breaches cleaning/maintenance buffers and delays the outbound trip.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62856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544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453542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Gap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855464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do not add up linearly. They compound non-linearly across the network — and today's tools miss that entirely.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155448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late train becomes four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49440" y="23317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2313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35240" y="2313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35240" y="25786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by fog / breakdown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96328" y="2834640"/>
            <a:ext cx="9144" cy="384048"/>
          </a:xfrm>
          <a:prstGeom prst="line">
            <a:avLst/>
          </a:prstGeom>
          <a:noFill/>
          <a:ln w="25400">
            <a:solidFill>
              <a:srgbClr val="A8C6DE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949440" y="3218688"/>
            <a:ext cx="502920" cy="502920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3524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35240" y="34655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Idles outside station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96328" y="3721608"/>
            <a:ext cx="9144" cy="384048"/>
          </a:xfrm>
          <a:prstGeom prst="line">
            <a:avLst/>
          </a:prstGeom>
          <a:noFill/>
          <a:ln w="25400">
            <a:solidFill>
              <a:srgbClr val="A8C6DE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949440" y="4105656"/>
            <a:ext cx="502920" cy="502920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4087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635240" y="4087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635240" y="43525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to slow down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96328" y="4608576"/>
            <a:ext cx="9144" cy="384048"/>
          </a:xfrm>
          <a:prstGeom prst="line">
            <a:avLst/>
          </a:prstGeom>
          <a:noFill/>
          <a:ln w="25400">
            <a:solidFill>
              <a:srgbClr val="A8C6DE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949440" y="4992624"/>
            <a:ext cx="502920" cy="50292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0" y="4974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635240" y="49743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635240" y="52395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Cascades further downline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System — Indian Railway Delay Cascade Analytics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Gap: Why Existing Solutions Fail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approaches, three very different capabilities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5B6B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64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Apps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6148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Ixigo, Where Is My Train, ConfirmTkt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Linear GPS extrapolation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81304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Treats each train as isolated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37997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Blind to network pressure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946904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“On Time” can flip to “2h late” with no warning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87368" y="338328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389120" y="1508760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783080"/>
            <a:ext cx="548640" cy="54864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764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2423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Internal Systems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276148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&amp; NTES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32461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Reactive logging only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381304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Records delays after they happen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437997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forward simulation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4946904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Closed to public / logistics partners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27848" y="338328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229600" y="1508760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14213D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03920" y="1783080"/>
            <a:ext cx="548640" cy="548640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1764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03920" y="2423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System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03920" y="276148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8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Forecasting Engine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03920" y="32461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Spatio-temporal AI graph model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3920" y="381304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Predicts ripple effects hours ahead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0" y="437997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 dual-mode dashboard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03920" y="4946904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Research-validated feature signal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System — Indian Railway Delay Cascade Analytics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Audience &amp; The Freight Dilemma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system serves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44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356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Commuters &amp; Passengers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88720" y="176479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missed-connection risk hours in advance and adjust plans.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96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4871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3PL &amp; Industrial Merchants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88720" y="281635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Steel, SAIL, Adani Ports, NTPC — forecast freight transit windows.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5387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Masters &amp; Dispatchers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88720" y="386791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to allocate platforms before junctions gridlock.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1005840"/>
            <a:ext cx="5257800" cy="5074920"/>
          </a:xfrm>
          <a:prstGeom prst="roundRect">
            <a:avLst>
              <a:gd name="adj" fmla="val 1441"/>
            </a:avLst>
          </a:prstGeom>
          <a:solidFill>
            <a:srgbClr val="14213D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234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FREIGHT / MERCHANT PROBLEM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20840" y="16002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rakes yield right-of-way to passenger trains — so passenger cascades hit merchants hardest.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20840" y="2468880"/>
            <a:ext cx="45720" cy="502920"/>
          </a:xfrm>
          <a:prstGeom prst="rect">
            <a:avLst/>
          </a:prstGeom>
          <a:solidFill>
            <a:srgbClr val="F4A100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24231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FOIS tracks location only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03720" y="27157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coal rake passed Mughalsarai at 10:30 AM” — no forecast, just a snapshot.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20840" y="3364992"/>
            <a:ext cx="45720" cy="502920"/>
          </a:xfrm>
          <a:prstGeom prst="rect">
            <a:avLst/>
          </a:prstGeom>
          <a:solidFill>
            <a:srgbClr val="F4A100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33192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priority rule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03720" y="36118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expresses have strict right-of-way; goods trains are shunted onto side loops for hours.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4261104"/>
            <a:ext cx="45720" cy="502920"/>
          </a:xfrm>
          <a:prstGeom prst="rect">
            <a:avLst/>
          </a:prstGeom>
          <a:solidFill>
            <a:srgbClr val="F4A100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421538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cost to merchants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03720" y="45079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Demurrage charges and factory stockouts from unpredictable freight windows.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20840" y="515721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framework: passenger cascade delays on HDN corridors act as an operational proxy for freight slot availability.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System — Indian Railway Delay Cascade Analytics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 pipeline — from 1.5M raw records to sub-millisecond predictions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457B9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84832"/>
            <a:ext cx="2606040" cy="246888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Polars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 rows in 14.4s → DuckDB warehouse, 4 indexes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63824" y="32004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10712" y="18288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0712" y="18288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457B9D"/>
          </a:solidFill>
          <a:ln/>
        </p:spPr>
      </p:sp>
      <p:sp>
        <p:nvSpPr>
          <p:cNvPr id="13" name="Shape 11"/>
          <p:cNvSpPr/>
          <p:nvPr/>
        </p:nvSpPr>
        <p:spPr>
          <a:xfrm>
            <a:off x="3410712" y="2084832"/>
            <a:ext cx="2606040" cy="246888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4" name="Text 12"/>
          <p:cNvSpPr/>
          <p:nvPr/>
        </p:nvSpPr>
        <p:spPr>
          <a:xfrm>
            <a:off x="3410712" y="18288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&amp; Features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47872" y="24871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NetworkX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47872" y="292608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16-zone topology, betweenness centrality, cascade features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25896" y="32004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72784" y="18288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72784" y="18288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4A100"/>
          </a:solidFill>
          <a:ln/>
        </p:spPr>
      </p:sp>
      <p:sp>
        <p:nvSpPr>
          <p:cNvPr id="20" name="Shape 18"/>
          <p:cNvSpPr/>
          <p:nvPr/>
        </p:nvSpPr>
        <p:spPr>
          <a:xfrm>
            <a:off x="6272784" y="2084832"/>
            <a:ext cx="2606040" cy="246888"/>
          </a:xfrm>
          <a:prstGeom prst="rect">
            <a:avLst/>
          </a:prstGeom>
          <a:solidFill>
            <a:srgbClr val="F4A100"/>
          </a:solidFill>
          <a:ln/>
        </p:spPr>
      </p:sp>
      <p:sp>
        <p:nvSpPr>
          <p:cNvPr id="21" name="Text 19"/>
          <p:cNvSpPr/>
          <p:nvPr/>
        </p:nvSpPr>
        <p:spPr>
          <a:xfrm>
            <a:off x="6272784" y="18288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9944" y="24871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9944" y="292608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 + classifier, benchmarked vs. 3 baselines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887968" y="32004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134856" y="18288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34856" y="18288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4213D"/>
          </a:solidFill>
          <a:ln/>
        </p:spPr>
      </p:sp>
      <p:sp>
        <p:nvSpPr>
          <p:cNvPr id="27" name="Shape 25"/>
          <p:cNvSpPr/>
          <p:nvPr/>
        </p:nvSpPr>
        <p:spPr>
          <a:xfrm>
            <a:off x="9134856" y="2084832"/>
            <a:ext cx="2606040" cy="246888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8" name="Text 26"/>
          <p:cNvSpPr/>
          <p:nvPr/>
        </p:nvSpPr>
        <p:spPr>
          <a:xfrm>
            <a:off x="9134856" y="18288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272016" y="24871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272016" y="292608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dashboard, 4 tabs, live DuckDB queries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486400"/>
            <a:ext cx="2724912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5559552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1.5M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8640" y="5989320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processed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10712" y="5486400"/>
            <a:ext cx="2724912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410712" y="5559552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14.4s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410712" y="5989320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ETL runtime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72784" y="5486400"/>
            <a:ext cx="2724912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272784" y="5559552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0.9195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272784" y="5989320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classifier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134856" y="5486400"/>
            <a:ext cx="2724912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134856" y="5559552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ms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134856" y="5989320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System — Indian Railway Delay Cascade Analytics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Modeling &amp; Cascade Feature Engineering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engineered signals that make cascade delays predictable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score 1229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17320" y="198424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zone_delay_pressure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31546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20-train average delay per zone — captures live gridlocks (fog, signal failure) static timetables miss.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9976" y="150876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08576" y="1737360"/>
            <a:ext cx="502920" cy="50292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3" name="Text 11"/>
          <p:cNvSpPr/>
          <p:nvPr/>
        </p:nvSpPr>
        <p:spPr>
          <a:xfrm>
            <a:off x="4608576" y="1719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48656" y="17373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score 606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48656" y="198424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08576" y="24231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rake_cascade_chain_length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08576" y="2971800"/>
            <a:ext cx="31546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count of consecutive delayed turnarounds for a shared physical trainset.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11312" y="150876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39912" y="173736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0" name="Text 18"/>
          <p:cNvSpPr/>
          <p:nvPr/>
        </p:nvSpPr>
        <p:spPr>
          <a:xfrm>
            <a:off x="8439912" y="1719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79992" y="17373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score 0.342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079992" y="198424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39912" y="24231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corridor_betweenness_centrality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39912" y="2971800"/>
            <a:ext cx="31546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16-zone NetworkX topology (25 HDN edges). NCR/Prayagraj is the #1 chokepoint; NFR (0.012) has minimal impact.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4213D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5120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zone_delay_pressure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5440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(1/20) × Σ delay_minutes  over the preceding 20 arrivals in that zone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040880" y="5074920"/>
            <a:ext cx="9144" cy="1097280"/>
          </a:xfrm>
          <a:prstGeom prst="line">
            <a:avLst/>
          </a:prstGeom>
          <a:noFill/>
          <a:ln w="19050">
            <a:solidFill>
              <a:srgbClr val="457B9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9480" y="51206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corridor_betweenness_centrality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69480" y="54406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Cᵦ(v) = Σ σₛₜ(v) / σₛₜ  —  how often a zone sits on the shortest path between others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incorporated: is_fog_risk, fog_risk_score, zone_fog_index, season_severity_score, is_monsoon_season — capturing visibility loss and track flooding.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Model Benchmark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 families, identical 80/20 split, 100,000 journeys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5778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463040"/>
          <a:ext cx="55778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526280"/>
            <a:ext cx="11091672" cy="1783080"/>
          </a:xfrm>
          <a:prstGeom prst="roundRect">
            <a:avLst>
              <a:gd name="adj" fmla="val 4103"/>
            </a:avLst>
          </a:prstGeom>
          <a:solidFill>
            <a:srgbClr val="14213D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68680" y="4754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error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68680" y="5138928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33.65 min, RMSE 45.76 — best of all four families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26280" y="4754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discrimination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26280" y="5138928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0.9153 for the &gt;15-min delay classifier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183880" y="4754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efficient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183880" y="5138928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in 0.47s on CPU, infers in 0.001 ms/query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System — Indian Railway Delay Cascade Analytics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Scientific Ablation Study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the engineered cascade &amp; graph features add real signal — not placebo inputs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55778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508760"/>
          <a:ext cx="55778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800600"/>
            <a:ext cx="2724912" cy="1371600"/>
          </a:xfrm>
          <a:prstGeom prst="roundRect">
            <a:avLst>
              <a:gd name="adj" fmla="val 5333"/>
            </a:avLst>
          </a:prstGeom>
          <a:solidFill>
            <a:srgbClr val="14213D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48640" y="4956048"/>
            <a:ext cx="2724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-0.53 min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548640" y="553212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reduction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410712" y="4800600"/>
            <a:ext cx="2724912" cy="1371600"/>
          </a:xfrm>
          <a:prstGeom prst="roundRect">
            <a:avLst>
              <a:gd name="adj" fmla="val 5333"/>
            </a:avLst>
          </a:prstGeom>
          <a:solidFill>
            <a:srgbClr val="14213D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410712" y="4956048"/>
            <a:ext cx="2724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-0.85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3410712" y="553212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reduction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72784" y="4800600"/>
            <a:ext cx="2724912" cy="1371600"/>
          </a:xfrm>
          <a:prstGeom prst="roundRect">
            <a:avLst>
              <a:gd name="adj" fmla="val 5333"/>
            </a:avLst>
          </a:prstGeom>
          <a:solidFill>
            <a:srgbClr val="14213D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272784" y="4956048"/>
            <a:ext cx="2724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+0.0199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6272784" y="553212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gain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9134856" y="4800600"/>
            <a:ext cx="2724912" cy="1371600"/>
          </a:xfrm>
          <a:prstGeom prst="roundRect">
            <a:avLst>
              <a:gd name="adj" fmla="val 5333"/>
            </a:avLst>
          </a:prstGeom>
          <a:solidFill>
            <a:srgbClr val="14213D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9134856" y="4956048"/>
            <a:ext cx="2724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+0.0059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9134856" y="553212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gain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System — Indian Railway Delay Cascade Analytics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UX: The Zero-Effort Passenger 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dashboard — one tap for commuters, full control for evaluators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0408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Passenger / Commuter View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0848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technical questions — 100% inferred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2606040"/>
            <a:ext cx="457200" cy="45720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587752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Train Number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508760" y="288036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12441 — the only input required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352044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502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502152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auto-infers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508760" y="379476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specs, incoming rake delay status, seasonal fog risk, rolling corridor congestion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4434840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416552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Delay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508760" y="470916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delay minutes, probability gauge, and risk tier — in &lt; 1 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" y="534924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5840" y="534924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tiers:  Low (&lt;15m)  •  Moderate (15–45m)  •  High Cascade Risk (45–90m)  •  Severe Gridlock (&gt;90m)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0" y="1508760"/>
            <a:ext cx="3867912" cy="4480560"/>
          </a:xfrm>
          <a:prstGeom prst="roundRect">
            <a:avLst>
              <a:gd name="adj" fmla="val 1891"/>
            </a:avLst>
          </a:prstGeom>
          <a:solidFill>
            <a:srgbClr val="14213D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01000" y="17373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Evaluator / What-If View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01000" y="2194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mentors, panel judges and academic evaluators to stress-test edge cases: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01000" y="2880360"/>
            <a:ext cx="73152" cy="73152"/>
          </a:xfrm>
          <a:prstGeom prst="rect">
            <a:avLst/>
          </a:prstGeom>
          <a:solidFill>
            <a:srgbClr val="F4A100"/>
          </a:solidFill>
          <a:ln/>
        </p:spPr>
      </p:sp>
      <p:sp>
        <p:nvSpPr>
          <p:cNvPr id="25" name="Text 23"/>
          <p:cNvSpPr/>
          <p:nvPr/>
        </p:nvSpPr>
        <p:spPr>
          <a:xfrm>
            <a:off x="8183880" y="2788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speed-restriction sliders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01000" y="3383280"/>
            <a:ext cx="73152" cy="73152"/>
          </a:xfrm>
          <a:prstGeom prst="rect">
            <a:avLst/>
          </a:prstGeom>
          <a:solidFill>
            <a:srgbClr val="F4A100"/>
          </a:solidFill>
          <a:ln/>
        </p:spPr>
      </p:sp>
      <p:sp>
        <p:nvSpPr>
          <p:cNvPr id="27" name="Text 25"/>
          <p:cNvSpPr/>
          <p:nvPr/>
        </p:nvSpPr>
        <p:spPr>
          <a:xfrm>
            <a:off x="8183880" y="3291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 turnaround overrides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01000" y="3886200"/>
            <a:ext cx="73152" cy="73152"/>
          </a:xfrm>
          <a:prstGeom prst="rect">
            <a:avLst/>
          </a:prstGeom>
          <a:solidFill>
            <a:srgbClr val="F4A100"/>
          </a:solidFill>
          <a:ln/>
        </p:spPr>
      </p:sp>
      <p:sp>
        <p:nvSpPr>
          <p:cNvPr id="29" name="Text 27"/>
          <p:cNvSpPr/>
          <p:nvPr/>
        </p:nvSpPr>
        <p:spPr>
          <a:xfrm>
            <a:off x="818388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delay pressure overrides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01000" y="4389120"/>
            <a:ext cx="73152" cy="73152"/>
          </a:xfrm>
          <a:prstGeom prst="rect">
            <a:avLst/>
          </a:prstGeom>
          <a:solidFill>
            <a:srgbClr val="F4A100"/>
          </a:solidFill>
          <a:ln/>
        </p:spPr>
      </p:sp>
      <p:sp>
        <p:nvSpPr>
          <p:cNvPr id="31" name="Text 29"/>
          <p:cNvSpPr/>
          <p:nvPr/>
        </p:nvSpPr>
        <p:spPr>
          <a:xfrm>
            <a:off x="8183880" y="4297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extreme scenarios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System — Indian Railway Delay Cascade Analytics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57200"/>
            <a:ext cx="832104" cy="1005840"/>
          </a:xfrm>
          <a:prstGeom prst="line">
            <a:avLst/>
          </a:prstGeom>
          <a:noFill/>
          <a:ln w="19050">
            <a:solidFill>
              <a:srgbClr val="A8C6DE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1463040"/>
            <a:ext cx="832104" cy="1005840"/>
          </a:xfrm>
          <a:prstGeom prst="line">
            <a:avLst/>
          </a:prstGeom>
          <a:noFill/>
          <a:ln w="19050">
            <a:solidFill>
              <a:srgbClr val="A8C6DE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8984" y="457200"/>
            <a:ext cx="832104" cy="603504"/>
          </a:xfrm>
          <a:prstGeom prst="line">
            <a:avLst/>
          </a:prstGeom>
          <a:noFill/>
          <a:ln w="19050">
            <a:solidFill>
              <a:srgbClr val="A8C6DE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58984" y="1060704"/>
            <a:ext cx="832104" cy="1408176"/>
          </a:xfrm>
          <a:prstGeom prst="line">
            <a:avLst/>
          </a:prstGeom>
          <a:noFill/>
          <a:ln w="19050">
            <a:solidFill>
              <a:srgbClr val="A8C6DE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91088" y="1060704"/>
            <a:ext cx="713232" cy="804672"/>
          </a:xfrm>
          <a:prstGeom prst="line">
            <a:avLst/>
          </a:prstGeom>
          <a:noFill/>
          <a:ln w="19050">
            <a:solidFill>
              <a:srgbClr val="A8C6DE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85732" y="1421892"/>
            <a:ext cx="82296" cy="82296"/>
          </a:xfrm>
          <a:prstGeom prst="ellipse">
            <a:avLst/>
          </a:prstGeom>
          <a:solidFill>
            <a:srgbClr val="A8C6DE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31552" y="429768"/>
            <a:ext cx="54864" cy="54864"/>
          </a:xfrm>
          <a:prstGeom prst="ellipse">
            <a:avLst/>
          </a:prstGeom>
          <a:solidFill>
            <a:srgbClr val="A8C6DE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131552" y="2441448"/>
            <a:ext cx="54864" cy="54864"/>
          </a:xfrm>
          <a:prstGeom prst="ellipse">
            <a:avLst/>
          </a:prstGeom>
          <a:solidFill>
            <a:srgbClr val="A8C6DE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63656" y="1033272"/>
            <a:ext cx="54864" cy="54864"/>
          </a:xfrm>
          <a:prstGeom prst="ellipse">
            <a:avLst/>
          </a:prstGeom>
          <a:solidFill>
            <a:srgbClr val="A8C6DE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676888" y="1837944"/>
            <a:ext cx="54864" cy="54864"/>
          </a:xfrm>
          <a:prstGeom prst="ellipse">
            <a:avLst/>
          </a:prstGeom>
          <a:solidFill>
            <a:srgbClr val="A8C6DE">
              <a:alpha val="4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research-backed PoC, ready to extend toward production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1691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0574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Local Big Data pipeline: 1.5M rows via Polars → DuckDB in 14.4s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25328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16-zone NetworkX graph with cascade &amp; centrality features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300837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4-model scientific benchmark + ablation study (LightGBM champion)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348386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Dual-mode Streamlit dashboard, 4 tabs, sub-ms inference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395935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6 automated tests, 100% pass rate in 2.74s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1691640"/>
            <a:ext cx="9144" cy="4434840"/>
          </a:xfrm>
          <a:prstGeom prst="line">
            <a:avLst/>
          </a:prstGeom>
          <a:noFill/>
          <a:ln w="19050">
            <a:solidFill>
              <a:srgbClr val="457B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1691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2103120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2084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208483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NTES / COA API streaming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086600" y="23774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static CSV with real-time operational feeds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37960" y="3063240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3044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86600" y="304495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Freight Corridor modeling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086600" y="33375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cascade forecasting directly to goods rail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37960" y="4023360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4005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86600" y="400507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086600" y="42976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local DuckDB PoC to a scaled, monitored service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419088"/>
            <a:ext cx="12188952" cy="18288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2026-09-27T04:52:09Z</dcterms:created>
  <dcterms:modified xsi:type="dcterms:W3CDTF">2026-09-27T04:52:09Z</dcterms:modified>
</cp:coreProperties>
</file>